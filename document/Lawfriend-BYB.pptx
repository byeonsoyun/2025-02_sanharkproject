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Lato" charset="1" panose="020F0502020204030203"/>
      <p:regular r:id="rId22"/>
    </p:embeddedFont>
    <p:embeddedFont>
      <p:font typeface="Lato Bold" charset="1" panose="020F0502020204030203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6.png" Type="http://schemas.openxmlformats.org/officeDocument/2006/relationships/image"/><Relationship Id="rId5" Target="../embeddings/oleObject2.bin" Type="http://schemas.openxmlformats.org/officeDocument/2006/relationships/oleObject"/><Relationship Id="rId6" Target="../media/image7.png" Type="http://schemas.openxmlformats.org/officeDocument/2006/relationships/image"/><Relationship Id="rId7" Target="../embeddings/oleObject3.bin" Type="http://schemas.openxmlformats.org/officeDocument/2006/relationships/oleObject"/><Relationship Id="rId8" Target="../media/image8.png" Type="http://schemas.openxmlformats.org/officeDocument/2006/relationships/image"/><Relationship Id="rId9" Target="../embeddings/oleObject4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5.bin" Type="http://schemas.openxmlformats.org/officeDocument/2006/relationships/oleObject"/><Relationship Id="rId4" Target="../media/image11.png" Type="http://schemas.openxmlformats.org/officeDocument/2006/relationships/image"/><Relationship Id="rId5" Target="../embeddings/oleObject6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13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9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embeddings/oleObject10.bin" Type="http://schemas.openxmlformats.org/officeDocument/2006/relationships/oleObject"/><Relationship Id="rId5" Target="../media/image17.png" Type="http://schemas.openxmlformats.org/officeDocument/2006/relationships/image"/><Relationship Id="rId6" Target="../embeddings/oleObject1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8665" y="2782458"/>
            <a:ext cx="11411477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LAWFRIEND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6669" y="882426"/>
            <a:ext cx="566644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2025-02 SanHark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8665" y="6833868"/>
            <a:ext cx="776292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 by BYB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92320"/>
            <a:ext cx="6749058" cy="254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민사법 중심 법률 자문 AI 챗봇 시스템</a:t>
            </a:r>
          </a:p>
          <a:p>
            <a:pPr algn="l">
              <a:lnSpc>
                <a:spcPts val="1540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49490" y="7527070"/>
            <a:ext cx="313007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2021076041 박상수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665" y="8299593"/>
            <a:ext cx="417172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2022041031 양현아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665" y="9076198"/>
            <a:ext cx="417172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2023041060 변소윤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7804" y="6107165"/>
            <a:ext cx="11001154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민사법 관련 법률 자문이 필요한 일반인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민사법 관련 </a:t>
            </a: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법률 데이터(판례.etc)에 대한 조회, 조사 및 문서를 요약하기를 원하는 전문가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민사법 관련 </a:t>
            </a: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내부 문서 및 법규/규정 검토 자동화를 필요로 하는 행정 기관/기업 등과 같은 조직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5514" y="675021"/>
            <a:ext cx="10615229" cy="102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9"/>
              </a:lnSpc>
            </a:pPr>
            <a:r>
              <a:rPr lang="en-US" sz="679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54368" y="3407780"/>
            <a:ext cx="13339377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민사법에 대한 법률 상담을 지원하는 지능형 챗봇 플랫폼.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사용자는 자연어로 질문을 입력하거나 문서를 업로드하면, 관련 자료를 데이터베이스로부터 검색하거나 AI가 이를 분석 및 요약하여 관련된 답변을 제공함.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좀 더 자세한 상담을 원하는 경우 미리 인증된 전문가들을 추천해주고 연결해주는 역할까지 제공함.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2477" y="2304431"/>
            <a:ext cx="385414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명칭  |  LAWFRIEND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2477" y="3407780"/>
            <a:ext cx="105574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설명  |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883" y="6097640"/>
            <a:ext cx="130533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사용자  |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유형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325" y="8742680"/>
            <a:ext cx="18474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운영 개념  |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17804" y="8752205"/>
            <a:ext cx="926760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  클라이언트-서버 구조를 기반으로 하는 웹사이트 운영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4276" y="2267046"/>
            <a:ext cx="10619449" cy="6991254"/>
          </a:xfrm>
          <a:custGeom>
            <a:avLst/>
            <a:gdLst/>
            <a:ahLst/>
            <a:cxnLst/>
            <a:rect r="r" b="b" t="t" l="l"/>
            <a:pathLst>
              <a:path h="6991254" w="10619449">
                <a:moveTo>
                  <a:pt x="0" y="0"/>
                </a:moveTo>
                <a:lnTo>
                  <a:pt x="10619448" y="0"/>
                </a:lnTo>
                <a:lnTo>
                  <a:pt x="10619448" y="6991254"/>
                </a:lnTo>
                <a:lnTo>
                  <a:pt x="0" y="6991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5613" y="1565691"/>
            <a:ext cx="66679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USECASE_DIAGRAM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5613" y="161084"/>
            <a:ext cx="9731004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073" y="2649395"/>
            <a:ext cx="17836037" cy="4726550"/>
          </a:xfrm>
          <a:custGeom>
            <a:avLst/>
            <a:gdLst/>
            <a:ahLst/>
            <a:cxnLst/>
            <a:rect r="r" b="b" t="t" l="l"/>
            <a:pathLst>
              <a:path h="4726550" w="17836037">
                <a:moveTo>
                  <a:pt x="0" y="0"/>
                </a:moveTo>
                <a:lnTo>
                  <a:pt x="17836037" y="0"/>
                </a:lnTo>
                <a:lnTo>
                  <a:pt x="17836037" y="4726550"/>
                </a:lnTo>
                <a:lnTo>
                  <a:pt x="0" y="4726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5613" y="1781022"/>
            <a:ext cx="666595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PRODUCT_BACKLOG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5613" y="161084"/>
            <a:ext cx="9731004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54478" y="2396480"/>
          <a:ext cx="16230600" cy="491836"/>
        </p:xfrm>
        <a:graphic>
          <a:graphicData uri="http://schemas.openxmlformats.org/presentationml/2006/ole">
            <p:oleObj imgW="19469100" imgH="3733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754478" y="4063355"/>
          <a:ext cx="16230600" cy="491836"/>
        </p:xfrm>
        <a:graphic>
          <a:graphicData uri="http://schemas.openxmlformats.org/presentationml/2006/ole">
            <p:oleObj imgW="19469100" imgH="373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754478" y="5825480"/>
          <a:ext cx="16230600" cy="491836"/>
        </p:xfrm>
        <a:graphic>
          <a:graphicData uri="http://schemas.openxmlformats.org/presentationml/2006/ole">
            <p:oleObj imgW="19469100" imgH="3733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5" id="5"/>
          <p:cNvGraphicFramePr/>
          <p:nvPr/>
        </p:nvGraphicFramePr>
        <p:xfrm>
          <a:off x="754478" y="7879709"/>
          <a:ext cx="16230600" cy="491836"/>
        </p:xfrm>
        <a:graphic>
          <a:graphicData uri="http://schemas.openxmlformats.org/presentationml/2006/ole">
            <p:oleObj imgW="19469100" imgH="37338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205613" y="1421252"/>
            <a:ext cx="666595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PRODUCT_BACKLOG 요약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2738" y="161084"/>
            <a:ext cx="9731004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66957" y="7027603"/>
            <a:ext cx="5354086" cy="1836479"/>
            <a:chOff x="0" y="0"/>
            <a:chExt cx="1621730" cy="556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4831" y="7027603"/>
            <a:ext cx="5354086" cy="1836479"/>
            <a:chOff x="0" y="0"/>
            <a:chExt cx="1621730" cy="556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48425" y="620911"/>
            <a:ext cx="11685587" cy="145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FUNCTIONS FOR THE FIRST DEVELOPMENT PHASE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40323" y="6283544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FUNCTION 5.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0323" y="7403632"/>
            <a:ext cx="4607354" cy="101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사용자-챗봇 간 대화 기록 로그 형태로 저장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197" y="6283544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FUNCTION 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197" y="7403632"/>
            <a:ext cx="4607354" cy="101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Django 내부의 dbsqlite3에 데이터 저장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58715" y="3696205"/>
            <a:ext cx="5354086" cy="1836479"/>
            <a:chOff x="0" y="0"/>
            <a:chExt cx="1621730" cy="556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58715" y="7027603"/>
            <a:ext cx="5354086" cy="1836479"/>
            <a:chOff x="0" y="0"/>
            <a:chExt cx="1621730" cy="5562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32081" y="2952146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FUNCTION 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32081" y="4072233"/>
            <a:ext cx="4607354" cy="101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답변의 품질 향상을 위해 RAG 과정을 적용할 수 있는 기능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32081" y="6283544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FUNCTION 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32081" y="7208772"/>
            <a:ext cx="4607354" cy="141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  <a:spcBef>
                <a:spcPct val="0"/>
              </a:spcBef>
            </a:pPr>
            <a:r>
              <a:rPr lang="en-US" sz="27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이런 기능들을 바탕으로 자연어 형태로 된 질문에 대해 답변해주는 채팅 기능/PDF 업로드 기능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64831" y="3712273"/>
            <a:ext cx="5354086" cy="1836479"/>
            <a:chOff x="0" y="0"/>
            <a:chExt cx="1621730" cy="5562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38197" y="2968214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FUNCTION 1.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3446" y="3916989"/>
            <a:ext cx="4607354" cy="141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  <a:spcBef>
                <a:spcPct val="0"/>
              </a:spcBef>
            </a:pPr>
            <a:r>
              <a:rPr lang="en-US" sz="27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DB에 저장해둔 데이터나 업로드한 PDF의 내용을 바탕으로 키워드 기반으로 검색할 수 있는 기능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66957" y="3712273"/>
            <a:ext cx="5354086" cy="1836479"/>
            <a:chOff x="0" y="0"/>
            <a:chExt cx="1621730" cy="5562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21730" cy="556262"/>
            </a:xfrm>
            <a:custGeom>
              <a:avLst/>
              <a:gdLst/>
              <a:ahLst/>
              <a:cxnLst/>
              <a:rect r="r" b="b" t="t" l="l"/>
              <a:pathLst>
                <a:path h="556262" w="1621730">
                  <a:moveTo>
                    <a:pt x="28920" y="0"/>
                  </a:moveTo>
                  <a:lnTo>
                    <a:pt x="1592811" y="0"/>
                  </a:lnTo>
                  <a:cubicBezTo>
                    <a:pt x="1608783" y="0"/>
                    <a:pt x="1621730" y="12948"/>
                    <a:pt x="1621730" y="28920"/>
                  </a:cubicBezTo>
                  <a:lnTo>
                    <a:pt x="1621730" y="527342"/>
                  </a:lnTo>
                  <a:cubicBezTo>
                    <a:pt x="1621730" y="535012"/>
                    <a:pt x="1618684" y="542368"/>
                    <a:pt x="1613260" y="547791"/>
                  </a:cubicBezTo>
                  <a:cubicBezTo>
                    <a:pt x="1607837" y="553215"/>
                    <a:pt x="1600481" y="556262"/>
                    <a:pt x="1592811" y="556262"/>
                  </a:cubicBezTo>
                  <a:lnTo>
                    <a:pt x="28920" y="556262"/>
                  </a:lnTo>
                  <a:cubicBezTo>
                    <a:pt x="12948" y="556262"/>
                    <a:pt x="0" y="543314"/>
                    <a:pt x="0" y="527342"/>
                  </a:cubicBezTo>
                  <a:lnTo>
                    <a:pt x="0" y="28920"/>
                  </a:lnTo>
                  <a:cubicBezTo>
                    <a:pt x="0" y="12948"/>
                    <a:pt x="12948" y="0"/>
                    <a:pt x="2892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21730" cy="59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45572" y="3856611"/>
            <a:ext cx="4607354" cy="148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sz="281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추론 등 복잡한 질의를 처리하기 위해 Ollama 활용하여 LLM을 통한 답변을 생성하는 기능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40323" y="2968214"/>
            <a:ext cx="3023988" cy="42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  <a:spcBef>
                <a:spcPct val="0"/>
              </a:spcBef>
            </a:pPr>
            <a:r>
              <a:rPr lang="en-US" b="true" sz="2473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FUNCTION 2.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156" y="1583911"/>
            <a:ext cx="17486739" cy="8459210"/>
          </a:xfrm>
          <a:custGeom>
            <a:avLst/>
            <a:gdLst/>
            <a:ahLst/>
            <a:cxnLst/>
            <a:rect r="r" b="b" t="t" l="l"/>
            <a:pathLst>
              <a:path h="8459210" w="17486739">
                <a:moveTo>
                  <a:pt x="0" y="0"/>
                </a:moveTo>
                <a:lnTo>
                  <a:pt x="17486738" y="0"/>
                </a:lnTo>
                <a:lnTo>
                  <a:pt x="17486738" y="8459210"/>
                </a:lnTo>
                <a:lnTo>
                  <a:pt x="0" y="8459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3387" y="476250"/>
            <a:ext cx="933917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BACKLOG LIST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75145" y="1508535"/>
          <a:ext cx="10801350" cy="8229600"/>
        </p:xfrm>
        <a:graphic>
          <a:graphicData uri="http://schemas.openxmlformats.org/presentationml/2006/ole">
            <p:oleObj imgW="12954000" imgH="10388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9399239" y="1508535"/>
          <a:ext cx="11401425" cy="7000875"/>
        </p:xfrm>
        <a:graphic>
          <a:graphicData uri="http://schemas.openxmlformats.org/presentationml/2006/ole">
            <p:oleObj imgW="13677900" imgH="9271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75145" y="334359"/>
            <a:ext cx="102901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1차 빌드 계획 대비 구현 진행률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93387" y="1471613"/>
          <a:ext cx="11401425" cy="7343775"/>
        </p:xfrm>
        <a:graphic>
          <a:graphicData uri="http://schemas.openxmlformats.org/presentationml/2006/ole">
            <p:oleObj imgW="13677900" imgH="961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9549389" y="1471613"/>
          <a:ext cx="11401425" cy="8029575"/>
        </p:xfrm>
        <a:graphic>
          <a:graphicData uri="http://schemas.openxmlformats.org/presentationml/2006/ole">
            <p:oleObj imgW="13677900" imgH="10299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93387" y="428625"/>
            <a:ext cx="9989828" cy="177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1차 빌드 계획 대비 구현 진행률 </a:t>
            </a:r>
          </a:p>
          <a:p>
            <a:pPr algn="l">
              <a:lnSpc>
                <a:spcPts val="671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16533" y="2435278"/>
          <a:ext cx="12485024" cy="3902228"/>
        </p:xfrm>
        <a:graphic>
          <a:graphicData uri="http://schemas.openxmlformats.org/presentationml/2006/ole">
            <p:oleObj imgW="14973300" imgH="6400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16533" y="1028700"/>
            <a:ext cx="9989828" cy="177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1차 빌드 계획 대비 구현 진행률 </a:t>
            </a:r>
          </a:p>
          <a:p>
            <a:pPr algn="l">
              <a:lnSpc>
                <a:spcPts val="671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002143" y="2077049"/>
            <a:ext cx="5910635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0"/>
              </a:lnSpc>
            </a:pPr>
            <a:r>
              <a:rPr lang="en-US" b="true" sz="61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전체 TASK: 37</a:t>
            </a:r>
          </a:p>
          <a:p>
            <a:pPr algn="ctr">
              <a:lnSpc>
                <a:spcPts val="6710"/>
              </a:lnSpc>
            </a:pPr>
            <a:r>
              <a:rPr lang="en-US" b="true" sz="61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미구현 TASK: 10</a:t>
            </a:r>
          </a:p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b="true" sz="61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1차 빌드: 73%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21425"/>
            <a:ext cx="102901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실행 부분에서의 오류 발생 여부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71952"/>
            <a:ext cx="6195843" cy="141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722" indent="-292861" lvl="1">
              <a:lnSpc>
                <a:spcPts val="3798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웹 - DB- 챗봇 과정에서</a:t>
            </a:r>
          </a:p>
          <a:p>
            <a:pPr algn="l">
              <a:lnSpc>
                <a:spcPts val="3798"/>
              </a:lnSpc>
            </a:pPr>
            <a:r>
              <a:rPr lang="en-US" sz="271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현재 웹-DB기준 오류 발생 없음</a:t>
            </a:r>
          </a:p>
          <a:p>
            <a:pPr algn="l">
              <a:lnSpc>
                <a:spcPts val="3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00392" y="221770"/>
            <a:ext cx="9723008" cy="9843459"/>
          </a:xfrm>
          <a:custGeom>
            <a:avLst/>
            <a:gdLst/>
            <a:ahLst/>
            <a:cxnLst/>
            <a:rect r="r" b="b" t="t" l="l"/>
            <a:pathLst>
              <a:path h="9843459" w="9723008">
                <a:moveTo>
                  <a:pt x="0" y="0"/>
                </a:moveTo>
                <a:lnTo>
                  <a:pt x="9723009" y="0"/>
                </a:lnTo>
                <a:lnTo>
                  <a:pt x="9723009" y="9843460"/>
                </a:lnTo>
                <a:lnTo>
                  <a:pt x="0" y="9843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9" r="0" b="-349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736489" y="221770"/>
          <a:ext cx="3771900" cy="4400550"/>
        </p:xfrm>
        <a:graphic>
          <a:graphicData uri="http://schemas.openxmlformats.org/presentationml/2006/ole">
            <p:oleObj imgW="4648200" imgH="5270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736489" y="4714470"/>
          <a:ext cx="3771900" cy="4400550"/>
        </p:xfrm>
        <a:graphic>
          <a:graphicData uri="http://schemas.openxmlformats.org/presentationml/2006/ole">
            <p:oleObj imgW="4648200" imgH="5270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667967" y="8981174"/>
            <a:ext cx="9792637" cy="135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0"/>
              </a:lnSpc>
            </a:pPr>
            <a:r>
              <a:rPr lang="en-US" b="true" sz="47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ENVIRONMENT </a:t>
            </a:r>
          </a:p>
          <a:p>
            <a:pPr algn="ctr">
              <a:lnSpc>
                <a:spcPts val="5170"/>
              </a:lnSpc>
            </a:pPr>
            <a:r>
              <a:rPr lang="en-US" b="true" sz="47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AND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6385" y="4181868"/>
            <a:ext cx="391261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0392" y="8446504"/>
            <a:ext cx="94967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Tools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926782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6253797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98056" y="869632"/>
            <a:ext cx="66895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개발 시 겪은 문제점 - 추후 개발 사항 연계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8056" y="1330287"/>
            <a:ext cx="7461194" cy="408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2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DB</a:t>
            </a:r>
          </a:p>
          <a:p>
            <a:pPr algn="l" marL="496569" indent="-248284" lvl="1">
              <a:lnSpc>
                <a:spcPts val="3265"/>
              </a:lnSpc>
              <a:buFont typeface="Arial"/>
              <a:buChar char="•"/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현재 사용중인 DBSQLITE3는 방대한 챗봇 학습 데이터 저장에 무리가 있고 성능 문제를 일으킬 수 있음 → PostgreSQL 데이터 베이스로 추후 변경 계획중</a:t>
            </a:r>
          </a:p>
          <a:p>
            <a:pPr algn="l">
              <a:lnSpc>
                <a:spcPts val="3265"/>
              </a:lnSpc>
            </a:pPr>
            <a:r>
              <a:rPr lang="en-US" sz="22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챗봇</a:t>
            </a:r>
          </a:p>
          <a:p>
            <a:pPr algn="l" marL="496569" indent="-248284" lvl="1">
              <a:lnSpc>
                <a:spcPts val="3265"/>
              </a:lnSpc>
              <a:buFont typeface="Arial"/>
              <a:buChar char="•"/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간단하게 처리할 수 있는 질의임에도 LLM을 활용하여 답변하는 문제 발생 → 질문을 구별하는 알고리즘을 개선하여 해결</a:t>
            </a:r>
          </a:p>
          <a:p>
            <a:pPr algn="l" marL="496569" indent="-248284" lvl="1">
              <a:lnSpc>
                <a:spcPts val="3265"/>
              </a:lnSpc>
              <a:buFont typeface="Arial"/>
              <a:buChar char="•"/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적절한 모델의 기준이 모호함 → 한국어 질의응답에 특화되었다는 점을 가장 중요하게 고려하여 모델을 선정함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1738" y="4947602"/>
            <a:ext cx="5853180" cy="33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90"/>
              </a:lnSpc>
            </a:pPr>
            <a:r>
              <a:rPr lang="en-US" b="true" sz="59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INFORMATION</a:t>
            </a:r>
          </a:p>
          <a:p>
            <a:pPr algn="r">
              <a:lnSpc>
                <a:spcPts val="6490"/>
              </a:lnSpc>
            </a:pPr>
            <a:r>
              <a:rPr lang="en-US" b="true" sz="59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(DEVELOPMENT          ISSUES)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8056" y="6223140"/>
            <a:ext cx="519964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다른 플랫폼과의 기능적 차별점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8056" y="6745110"/>
            <a:ext cx="7461194" cy="208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357"/>
              </a:lnSpc>
              <a:buFont typeface="Arial"/>
              <a:buChar char="•"/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현재 개발 중인 기능이 민사법에 국한되어 법률적 답변을 받을 수 있도록 되어 있어 다른 챗봇 플랫폼에 비해 실행 가능한 기능의 가짓수 및 성능적 측면에서 뒤쳐짐</a:t>
            </a:r>
          </a:p>
          <a:p>
            <a:pPr algn="l">
              <a:lnSpc>
                <a:spcPts val="3357"/>
              </a:lnSpc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     → 법률 자료의 시각화 등 추가적인 사용자 편의 기능을 </a:t>
            </a:r>
          </a:p>
          <a:p>
            <a:pPr algn="l">
              <a:lnSpc>
                <a:spcPts val="3357"/>
              </a:lnSpc>
            </a:pP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lang="en-US" sz="22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추가하는 방향으로 개발할 예정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706421"/>
            <a:ext cx="718805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DEMONSTRAION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8665" y="3213525"/>
            <a:ext cx="11411477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6669" y="882426"/>
            <a:ext cx="453537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2025-02 SanHark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8665" y="7119480"/>
            <a:ext cx="609669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 by BYB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665" y="5417085"/>
            <a:ext cx="11411477" cy="83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DAG4jswimiE</dc:identifier>
  <dcterms:modified xsi:type="dcterms:W3CDTF">2011-08-01T06:04:30Z</dcterms:modified>
  <cp:revision>1</cp:revision>
  <dc:title>Lawfriend-BYB</dc:title>
</cp:coreProperties>
</file>